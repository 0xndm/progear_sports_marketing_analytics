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2" r:id="rId6"/>
    <p:sldId id="263" r:id="rId7"/>
    <p:sldId id="261"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D0969-1C1A-4488-9D39-70DBB30FF30C}"/>
              </a:ext>
            </a:extLst>
          </p:cNvPr>
          <p:cNvSpPr>
            <a:spLocks noGrp="1"/>
          </p:cNvSpPr>
          <p:nvPr>
            <p:ph type="ctrTitle"/>
          </p:nvPr>
        </p:nvSpPr>
        <p:spPr>
          <a:xfrm>
            <a:off x="1524000" y="1122364"/>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B3850C-65D3-4128-AC47-B7AF70E037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CAAAC3-606F-429A-A712-C70E75583386}"/>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5" name="Footer Placeholder 4">
            <a:extLst>
              <a:ext uri="{FF2B5EF4-FFF2-40B4-BE49-F238E27FC236}">
                <a16:creationId xmlns:a16="http://schemas.microsoft.com/office/drawing/2014/main" id="{9A93BFAA-2A41-4095-94BD-1875CE39F4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53CE8-1D84-4796-B3EA-206C200EF43E}"/>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1583061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20B20-ACEB-419A-9AD7-8BDCA3D8C4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28417-8F96-4B26-AD95-B7DD76192D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0FE852-E925-4A6A-B643-8E5FD261B1D4}"/>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5" name="Footer Placeholder 4">
            <a:extLst>
              <a:ext uri="{FF2B5EF4-FFF2-40B4-BE49-F238E27FC236}">
                <a16:creationId xmlns:a16="http://schemas.microsoft.com/office/drawing/2014/main" id="{C49F7246-B41B-42F0-AC6B-D8E25CAE1B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FD34DB-C6F3-438F-A4CA-2B16ECAB8386}"/>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199846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B0EE5-4590-4F81-A8BC-E3C8D1712975}"/>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7F070E-09DA-4549-BA4B-2B6ED711329B}"/>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F2D317-7DE0-4073-A38E-FB2407C510AF}"/>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5" name="Footer Placeholder 4">
            <a:extLst>
              <a:ext uri="{FF2B5EF4-FFF2-40B4-BE49-F238E27FC236}">
                <a16:creationId xmlns:a16="http://schemas.microsoft.com/office/drawing/2014/main" id="{6627E873-E47E-4780-B283-C975AD7C3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5051F-981D-4557-B291-8961A6CF21E0}"/>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182649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DB5F3-3152-4EB5-AB48-0FD03926FC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72A4EE-B9B6-4DDD-A751-087133D6FA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C57C55-2D35-4DD6-85E4-0BC437F550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8F2D79-7B29-4F5B-BA87-B87CB0701FEF}"/>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6" name="Footer Placeholder 5">
            <a:extLst>
              <a:ext uri="{FF2B5EF4-FFF2-40B4-BE49-F238E27FC236}">
                <a16:creationId xmlns:a16="http://schemas.microsoft.com/office/drawing/2014/main" id="{1BBDC2DD-016D-4E47-9FCE-9C07B4A57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F494B1-23F6-4476-8B44-AB938C215541}"/>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3976688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7980D-D76F-4EF7-9950-18FBEC32162B}"/>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CF3C33-6BAB-4CF0-8897-1838D4E975AD}"/>
              </a:ext>
            </a:extLst>
          </p:cNvPr>
          <p:cNvSpPr>
            <a:spLocks noGrp="1"/>
          </p:cNvSpPr>
          <p:nvPr>
            <p:ph type="body" idx="1"/>
          </p:nvPr>
        </p:nvSpPr>
        <p:spPr>
          <a:xfrm>
            <a:off x="839791" y="168116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5FEEE1-DC2A-45EC-AD2C-2618135D91EA}"/>
              </a:ext>
            </a:extLst>
          </p:cNvPr>
          <p:cNvSpPr>
            <a:spLocks noGrp="1"/>
          </p:cNvSpPr>
          <p:nvPr>
            <p:ph sz="half" idx="2"/>
          </p:nvPr>
        </p:nvSpPr>
        <p:spPr>
          <a:xfrm>
            <a:off x="839791"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24CD7F-175A-4486-956B-545B12E60E3F}"/>
              </a:ext>
            </a:extLst>
          </p:cNvPr>
          <p:cNvSpPr>
            <a:spLocks noGrp="1"/>
          </p:cNvSpPr>
          <p:nvPr>
            <p:ph type="body" sz="quarter" idx="3"/>
          </p:nvPr>
        </p:nvSpPr>
        <p:spPr>
          <a:xfrm>
            <a:off x="6172200" y="168116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6D092E-B280-4039-8E3C-E25154E0EE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D441B2-4C11-4CE2-B6CF-CC1E1F3CD5F9}"/>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8" name="Footer Placeholder 7">
            <a:extLst>
              <a:ext uri="{FF2B5EF4-FFF2-40B4-BE49-F238E27FC236}">
                <a16:creationId xmlns:a16="http://schemas.microsoft.com/office/drawing/2014/main" id="{FF3A173E-2100-463F-B224-9B645D2700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932A18-921C-4B08-9544-5493B0CF707C}"/>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221433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B025-9965-48D5-B880-655C8EB2D5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B310C5-9463-4594-B868-676172C912B2}"/>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4" name="Footer Placeholder 3">
            <a:extLst>
              <a:ext uri="{FF2B5EF4-FFF2-40B4-BE49-F238E27FC236}">
                <a16:creationId xmlns:a16="http://schemas.microsoft.com/office/drawing/2014/main" id="{C4B4555B-6371-4F4F-B0E6-8498E97AED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48B26E-7DFC-45BA-973B-F8327F210DB3}"/>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763500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D558ED-A451-47B0-A954-37BE8B6C05B9}"/>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3" name="Footer Placeholder 2">
            <a:extLst>
              <a:ext uri="{FF2B5EF4-FFF2-40B4-BE49-F238E27FC236}">
                <a16:creationId xmlns:a16="http://schemas.microsoft.com/office/drawing/2014/main" id="{E8489176-D07E-455A-9735-BD54712A6B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ACE689-921D-498D-ACA8-4FF7BBDBD0C3}"/>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136073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9E83-4224-4FC8-B4B7-AB979BF5E793}"/>
              </a:ext>
            </a:extLst>
          </p:cNvPr>
          <p:cNvSpPr>
            <a:spLocks noGrp="1"/>
          </p:cNvSpPr>
          <p:nvPr>
            <p:ph type="title"/>
          </p:nvPr>
        </p:nvSpPr>
        <p:spPr>
          <a:xfrm>
            <a:off x="839792"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FBAB44-2738-413A-982E-58F208A16E02}"/>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7A6D90-C0B8-43E7-A775-F1CE9A5F939D}"/>
              </a:ext>
            </a:extLst>
          </p:cNvPr>
          <p:cNvSpPr>
            <a:spLocks noGrp="1"/>
          </p:cNvSpPr>
          <p:nvPr>
            <p:ph type="body" sz="half" idx="2"/>
          </p:nvPr>
        </p:nvSpPr>
        <p:spPr>
          <a:xfrm>
            <a:off x="8397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4212EC-6DFC-4EC8-A9B7-1462AC1CAF6D}"/>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6" name="Footer Placeholder 5">
            <a:extLst>
              <a:ext uri="{FF2B5EF4-FFF2-40B4-BE49-F238E27FC236}">
                <a16:creationId xmlns:a16="http://schemas.microsoft.com/office/drawing/2014/main" id="{5475E39D-12F8-4EEB-B8EC-D5861959C4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547E3-EB14-4956-A64C-470F4DE271DB}"/>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12693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85E69-7F22-44CA-AFD4-9EFEE9CC8D42}"/>
              </a:ext>
            </a:extLst>
          </p:cNvPr>
          <p:cNvSpPr>
            <a:spLocks noGrp="1"/>
          </p:cNvSpPr>
          <p:nvPr>
            <p:ph type="title"/>
          </p:nvPr>
        </p:nvSpPr>
        <p:spPr>
          <a:xfrm>
            <a:off x="839792"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AE2791-0084-49D5-83B4-CFC3E3B70046}"/>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95A60E-1879-4BE6-AA31-F8C85F562985}"/>
              </a:ext>
            </a:extLst>
          </p:cNvPr>
          <p:cNvSpPr>
            <a:spLocks noGrp="1"/>
          </p:cNvSpPr>
          <p:nvPr>
            <p:ph type="body" sz="half" idx="2"/>
          </p:nvPr>
        </p:nvSpPr>
        <p:spPr>
          <a:xfrm>
            <a:off x="839792"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19C746-78A9-4A14-910F-D40FDAB6E93B}"/>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6" name="Footer Placeholder 5">
            <a:extLst>
              <a:ext uri="{FF2B5EF4-FFF2-40B4-BE49-F238E27FC236}">
                <a16:creationId xmlns:a16="http://schemas.microsoft.com/office/drawing/2014/main" id="{427F188B-7C1B-48C4-A77D-EE7531DD7B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20FC89-B6A3-4B4A-A494-27511C8F6658}"/>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3996642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D3FD0-34F0-4094-9A55-11A5BFA812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05E7DE-630E-4ECF-AF21-19811733D6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B5BD9-0841-433C-9267-A96392EA999F}"/>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5" name="Footer Placeholder 4">
            <a:extLst>
              <a:ext uri="{FF2B5EF4-FFF2-40B4-BE49-F238E27FC236}">
                <a16:creationId xmlns:a16="http://schemas.microsoft.com/office/drawing/2014/main" id="{954C5335-DE38-4830-A355-553336E61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D46620-FF2F-4C05-A3FF-A09BB66989E0}"/>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378113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48EFF2-3938-478A-A4DB-C211E3C8FD86}"/>
              </a:ext>
            </a:extLst>
          </p:cNvPr>
          <p:cNvSpPr>
            <a:spLocks noGrp="1"/>
          </p:cNvSpPr>
          <p:nvPr>
            <p:ph type="title" orient="vert"/>
          </p:nvPr>
        </p:nvSpPr>
        <p:spPr>
          <a:xfrm>
            <a:off x="8724900" y="365127"/>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92E2E3-2E96-4025-A63B-3499BDD48C64}"/>
              </a:ext>
            </a:extLst>
          </p:cNvPr>
          <p:cNvSpPr>
            <a:spLocks noGrp="1"/>
          </p:cNvSpPr>
          <p:nvPr>
            <p:ph type="body" orient="vert" idx="1"/>
          </p:nvPr>
        </p:nvSpPr>
        <p:spPr>
          <a:xfrm>
            <a:off x="838200" y="365127"/>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85962-8918-4DE3-95F2-2322CF1265E5}"/>
              </a:ext>
            </a:extLst>
          </p:cNvPr>
          <p:cNvSpPr>
            <a:spLocks noGrp="1"/>
          </p:cNvSpPr>
          <p:nvPr>
            <p:ph type="dt" sz="half" idx="10"/>
          </p:nvPr>
        </p:nvSpPr>
        <p:spPr/>
        <p:txBody>
          <a:bodyPr/>
          <a:lstStyle/>
          <a:p>
            <a:fld id="{EA5AAE05-420E-4997-A95D-8A37A5510C72}" type="datetimeFigureOut">
              <a:rPr lang="en-US" smtClean="0"/>
              <a:t>2/28/2026</a:t>
            </a:fld>
            <a:endParaRPr lang="en-US"/>
          </a:p>
        </p:txBody>
      </p:sp>
      <p:sp>
        <p:nvSpPr>
          <p:cNvPr id="5" name="Footer Placeholder 4">
            <a:extLst>
              <a:ext uri="{FF2B5EF4-FFF2-40B4-BE49-F238E27FC236}">
                <a16:creationId xmlns:a16="http://schemas.microsoft.com/office/drawing/2014/main" id="{F7D14833-E9E6-4DDC-BFF0-DE390C654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AA583F-13A5-48BB-937C-9C9BF92BBE8E}"/>
              </a:ext>
            </a:extLst>
          </p:cNvPr>
          <p:cNvSpPr>
            <a:spLocks noGrp="1"/>
          </p:cNvSpPr>
          <p:nvPr>
            <p:ph type="sldNum" sz="quarter" idx="12"/>
          </p:nvPr>
        </p:nvSpPr>
        <p:spPr/>
        <p:txBody>
          <a:bodyPr/>
          <a:lstStyle/>
          <a:p>
            <a:fld id="{393D8355-3DAA-4585-9539-C5944DE10F02}" type="slidenum">
              <a:rPr lang="en-US" smtClean="0"/>
              <a:t>‹#›</a:t>
            </a:fld>
            <a:endParaRPr lang="en-US"/>
          </a:p>
        </p:txBody>
      </p:sp>
    </p:spTree>
    <p:extLst>
      <p:ext uri="{BB962C8B-B14F-4D97-AF65-F5344CB8AC3E}">
        <p14:creationId xmlns:p14="http://schemas.microsoft.com/office/powerpoint/2010/main" val="3795637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053EC8-A41A-4295-967E-60EB2609C5D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0A67CA-120D-42B0-B9F8-ED2F63F483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CD700-6467-4B43-AEBD-CC3CEF7F649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5AAE05-420E-4997-A95D-8A37A5510C72}" type="datetimeFigureOut">
              <a:rPr lang="en-US" smtClean="0"/>
              <a:t>2/28/2026</a:t>
            </a:fld>
            <a:endParaRPr lang="en-US"/>
          </a:p>
        </p:txBody>
      </p:sp>
      <p:sp>
        <p:nvSpPr>
          <p:cNvPr id="5" name="Footer Placeholder 4">
            <a:extLst>
              <a:ext uri="{FF2B5EF4-FFF2-40B4-BE49-F238E27FC236}">
                <a16:creationId xmlns:a16="http://schemas.microsoft.com/office/drawing/2014/main" id="{5ACE6CC7-70F7-43B7-818F-12BDE36CD16E}"/>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10CE9B-4015-4519-AF11-E885B747998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3D8355-3DAA-4585-9539-C5944DE10F02}" type="slidenum">
              <a:rPr lang="en-US" smtClean="0"/>
              <a:t>‹#›</a:t>
            </a:fld>
            <a:endParaRPr lang="en-US"/>
          </a:p>
        </p:txBody>
      </p:sp>
    </p:spTree>
    <p:extLst>
      <p:ext uri="{BB962C8B-B14F-4D97-AF65-F5344CB8AC3E}">
        <p14:creationId xmlns:p14="http://schemas.microsoft.com/office/powerpoint/2010/main" val="2487462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1FF20-25A1-4105-B978-7D37795F30D8}"/>
              </a:ext>
            </a:extLst>
          </p:cNvPr>
          <p:cNvSpPr>
            <a:spLocks noGrp="1"/>
          </p:cNvSpPr>
          <p:nvPr>
            <p:ph type="ctrTitle"/>
          </p:nvPr>
        </p:nvSpPr>
        <p:spPr>
          <a:xfrm>
            <a:off x="1524000" y="1359430"/>
            <a:ext cx="9144000" cy="2387600"/>
          </a:xfrm>
        </p:spPr>
        <p:txBody>
          <a:bodyPr/>
          <a:lstStyle/>
          <a:p>
            <a:r>
              <a:rPr lang="en-US" b="1" dirty="0"/>
              <a:t>Marketing Analytics Report ProGear Sports</a:t>
            </a:r>
          </a:p>
        </p:txBody>
      </p:sp>
      <p:sp>
        <p:nvSpPr>
          <p:cNvPr id="5" name="TextBox 4">
            <a:extLst>
              <a:ext uri="{FF2B5EF4-FFF2-40B4-BE49-F238E27FC236}">
                <a16:creationId xmlns:a16="http://schemas.microsoft.com/office/drawing/2014/main" id="{D9C5B6F2-2C16-41BA-9867-E7CB5DE31B3B}"/>
              </a:ext>
            </a:extLst>
          </p:cNvPr>
          <p:cNvSpPr txBox="1"/>
          <p:nvPr/>
        </p:nvSpPr>
        <p:spPr>
          <a:xfrm>
            <a:off x="9508067" y="5875867"/>
            <a:ext cx="2548466" cy="523220"/>
          </a:xfrm>
          <a:prstGeom prst="rect">
            <a:avLst/>
          </a:prstGeom>
          <a:noFill/>
        </p:spPr>
        <p:txBody>
          <a:bodyPr wrap="square" rtlCol="0">
            <a:spAutoFit/>
          </a:bodyPr>
          <a:lstStyle/>
          <a:p>
            <a:pPr algn="r"/>
            <a:r>
              <a:rPr lang="en-US" sz="1400" dirty="0"/>
              <a:t>By Nathnael Dagnaw Mellese</a:t>
            </a:r>
          </a:p>
          <a:p>
            <a:pPr algn="r"/>
            <a:r>
              <a:rPr lang="en-US" sz="1400" dirty="0"/>
              <a:t>February 2026</a:t>
            </a:r>
          </a:p>
        </p:txBody>
      </p:sp>
    </p:spTree>
    <p:extLst>
      <p:ext uri="{BB962C8B-B14F-4D97-AF65-F5344CB8AC3E}">
        <p14:creationId xmlns:p14="http://schemas.microsoft.com/office/powerpoint/2010/main" val="1779793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D359C-3C73-4339-BCB1-1D194174A086}"/>
              </a:ext>
            </a:extLst>
          </p:cNvPr>
          <p:cNvSpPr>
            <a:spLocks noGrp="1"/>
          </p:cNvSpPr>
          <p:nvPr>
            <p:ph type="title"/>
          </p:nvPr>
        </p:nvSpPr>
        <p:spPr/>
        <p:txBody>
          <a:bodyPr/>
          <a:lstStyle/>
          <a:p>
            <a:r>
              <a:rPr lang="en-US" b="1" dirty="0"/>
              <a:t>Executive Summary</a:t>
            </a:r>
          </a:p>
        </p:txBody>
      </p:sp>
      <p:sp>
        <p:nvSpPr>
          <p:cNvPr id="3" name="Content Placeholder 2">
            <a:extLst>
              <a:ext uri="{FF2B5EF4-FFF2-40B4-BE49-F238E27FC236}">
                <a16:creationId xmlns:a16="http://schemas.microsoft.com/office/drawing/2014/main" id="{DE7D9EA4-15F0-4E85-8376-C79A305B724A}"/>
              </a:ext>
            </a:extLst>
          </p:cNvPr>
          <p:cNvSpPr>
            <a:spLocks noGrp="1"/>
          </p:cNvSpPr>
          <p:nvPr>
            <p:ph idx="1"/>
          </p:nvPr>
        </p:nvSpPr>
        <p:spPr>
          <a:xfrm>
            <a:off x="626533" y="1817158"/>
            <a:ext cx="9601200" cy="4351338"/>
          </a:xfrm>
        </p:spPr>
        <p:txBody>
          <a:bodyPr>
            <a:normAutofit/>
          </a:bodyPr>
          <a:lstStyle/>
          <a:p>
            <a:r>
              <a:rPr lang="en-US" sz="1600" b="1" dirty="0"/>
              <a:t>Conversion rate:</a:t>
            </a:r>
            <a:r>
              <a:rPr lang="en-US" sz="1600" dirty="0"/>
              <a:t> While the 9.6% aggregate conversion rate shows strong buyer intent, the decline from 11.6% (2023) to 8.6% (2025) reveals a 25.8% erosion in sales efficiency that must be addressed through better funnel optimization.</a:t>
            </a:r>
          </a:p>
          <a:p>
            <a:r>
              <a:rPr lang="en-US" sz="1600" b="1" dirty="0"/>
              <a:t>Customer engagement: </a:t>
            </a:r>
            <a:r>
              <a:rPr lang="en-US" sz="1600" dirty="0"/>
              <a:t>Total reach and Click-Through Rate has significantly collapsed by 80% and 68% respectively over the last two years. Suggesting that our current content strategy is no longer resonating despite sustained financial investment.</a:t>
            </a:r>
          </a:p>
          <a:p>
            <a:r>
              <a:rPr lang="en-US" sz="1600" b="1" dirty="0"/>
              <a:t>Marketing spend efficiency</a:t>
            </a:r>
            <a:r>
              <a:rPr lang="en-US" sz="1600" dirty="0"/>
              <a:t> is deteriorating, with high reach not translating into proportional clicks or purchases.</a:t>
            </a:r>
          </a:p>
          <a:p>
            <a:r>
              <a:rPr lang="en-US" sz="1600" b="1" dirty="0"/>
              <a:t>Customer satisfaction</a:t>
            </a:r>
            <a:r>
              <a:rPr lang="en-US" sz="1600" dirty="0"/>
              <a:t> is moderate (avg rating 3.69), with a meaningful negative sentiment share that may be suppressing conversions.</a:t>
            </a:r>
          </a:p>
          <a:p>
            <a:r>
              <a:rPr lang="en-US" sz="1600" b="1" dirty="0"/>
              <a:t>Performance gaps</a:t>
            </a:r>
            <a:r>
              <a:rPr lang="en-US" sz="1600" dirty="0"/>
              <a:t> across products and demographics reveal clear opportunities for targeted optimization and budget reallocation.</a:t>
            </a:r>
          </a:p>
        </p:txBody>
      </p:sp>
    </p:spTree>
    <p:extLst>
      <p:ext uri="{BB962C8B-B14F-4D97-AF65-F5344CB8AC3E}">
        <p14:creationId xmlns:p14="http://schemas.microsoft.com/office/powerpoint/2010/main" val="3717499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401D0-6896-407C-A16D-A7D9DD5E02FA}"/>
              </a:ext>
            </a:extLst>
          </p:cNvPr>
          <p:cNvSpPr>
            <a:spLocks noGrp="1"/>
          </p:cNvSpPr>
          <p:nvPr>
            <p:ph type="title"/>
          </p:nvPr>
        </p:nvSpPr>
        <p:spPr>
          <a:xfrm>
            <a:off x="838200" y="93134"/>
            <a:ext cx="10515600" cy="956734"/>
          </a:xfrm>
        </p:spPr>
        <p:txBody>
          <a:bodyPr/>
          <a:lstStyle/>
          <a:p>
            <a:r>
              <a:rPr lang="en-US" b="1" dirty="0"/>
              <a:t>Conversion Performance</a:t>
            </a:r>
          </a:p>
        </p:txBody>
      </p:sp>
      <p:sp>
        <p:nvSpPr>
          <p:cNvPr id="3" name="Content Placeholder 2">
            <a:extLst>
              <a:ext uri="{FF2B5EF4-FFF2-40B4-BE49-F238E27FC236}">
                <a16:creationId xmlns:a16="http://schemas.microsoft.com/office/drawing/2014/main" id="{C0BA501C-D572-4736-BA5D-CA751AFC02B1}"/>
              </a:ext>
            </a:extLst>
          </p:cNvPr>
          <p:cNvSpPr>
            <a:spLocks noGrp="1"/>
          </p:cNvSpPr>
          <p:nvPr>
            <p:ph idx="1"/>
          </p:nvPr>
        </p:nvSpPr>
        <p:spPr>
          <a:xfrm>
            <a:off x="838204" y="1159932"/>
            <a:ext cx="6968067" cy="5604933"/>
          </a:xfrm>
        </p:spPr>
        <p:txBody>
          <a:bodyPr>
            <a:normAutofit/>
          </a:bodyPr>
          <a:lstStyle/>
          <a:p>
            <a:pPr marL="0" indent="0">
              <a:buNone/>
            </a:pPr>
            <a:r>
              <a:rPr lang="en-US" sz="1400" b="1" dirty="0"/>
              <a:t>Overall Conversion Performance</a:t>
            </a:r>
          </a:p>
          <a:p>
            <a:r>
              <a:rPr lang="en-US" sz="1400" dirty="0"/>
              <a:t>An overall conversion rate of 9.6% still outperforms industry standards, suggesting those who reach the site are ready to buy.</a:t>
            </a:r>
          </a:p>
          <a:p>
            <a:r>
              <a:rPr lang="en-US" sz="1400" dirty="0"/>
              <a:t>The conversion rate has dropped from 11.6% in 2023 to 8.6% in 2025. This decline in sales efficiency is happening at the same time our total reach has collapsed from 5 million to 1 million views.</a:t>
            </a:r>
          </a:p>
          <a:p>
            <a:r>
              <a:rPr lang="en-US" sz="1400" b="1" dirty="0"/>
              <a:t>Business implication: </a:t>
            </a:r>
            <a:r>
              <a:rPr lang="en-US" sz="1400" dirty="0"/>
              <a:t>We are not just reaching fewer people; we are converting a smaller percentage of the ones we do reach, pointing to a need for a refreshed value proposition or checkout experience.</a:t>
            </a:r>
          </a:p>
          <a:p>
            <a:pPr marL="0" indent="0">
              <a:buNone/>
            </a:pPr>
            <a:r>
              <a:rPr lang="en-US" sz="1400" b="1" dirty="0"/>
              <a:t>Funnel Drop-Off Analysis (Customer Journey)</a:t>
            </a:r>
          </a:p>
          <a:p>
            <a:r>
              <a:rPr lang="en-US" sz="1400" dirty="0"/>
              <a:t>The primary "revenue leakage" is the transition from 9,079,276 social views to only 2,070 website visits.</a:t>
            </a:r>
          </a:p>
          <a:p>
            <a:r>
              <a:rPr lang="en-US" sz="1400" b="1" dirty="0"/>
              <a:t>51.5% </a:t>
            </a:r>
            <a:r>
              <a:rPr lang="en-US" sz="1400" dirty="0"/>
              <a:t>of users move from website </a:t>
            </a:r>
            <a:r>
              <a:rPr lang="en-US" sz="1400" dirty="0" err="1"/>
              <a:t>vist</a:t>
            </a:r>
            <a:r>
              <a:rPr lang="en-US" sz="1400" dirty="0"/>
              <a:t> to click. Initial interest is healthy.</a:t>
            </a:r>
          </a:p>
          <a:p>
            <a:r>
              <a:rPr lang="en-US" sz="1400" dirty="0"/>
              <a:t>We are losing </a:t>
            </a:r>
            <a:r>
              <a:rPr lang="en-US" sz="1400" b="1" dirty="0"/>
              <a:t>28.89%</a:t>
            </a:r>
            <a:r>
              <a:rPr lang="en-US" sz="1400" dirty="0"/>
              <a:t> of potential buyers during the digital journey, highlighting a technical or friction-based barrier to purchase.</a:t>
            </a:r>
          </a:p>
          <a:p>
            <a:pPr marL="0" indent="0">
              <a:buNone/>
            </a:pPr>
            <a:r>
              <a:rPr lang="en-US" sz="1400" b="1" dirty="0"/>
              <a:t>Monthly Conversion Trends</a:t>
            </a:r>
          </a:p>
          <a:p>
            <a:r>
              <a:rPr lang="en-US" sz="1400" dirty="0"/>
              <a:t>Conversion peaks early in the year and again slightly around early Q4.Noticeable decline occurs through the mid-year period.</a:t>
            </a:r>
          </a:p>
          <a:p>
            <a:r>
              <a:rPr lang="en-US" sz="1400" dirty="0"/>
              <a:t>Performance remains inconsistent month to month.</a:t>
            </a:r>
          </a:p>
          <a:p>
            <a:r>
              <a:rPr lang="en-US" sz="1400" b="1" dirty="0"/>
              <a:t>Insight: </a:t>
            </a:r>
            <a:r>
              <a:rPr lang="en-US" sz="1400" dirty="0"/>
              <a:t>Seasonality plays a role, but the volatility suggests campaign effectiveness and on-site experience are not stable.</a:t>
            </a:r>
          </a:p>
        </p:txBody>
      </p:sp>
      <p:pic>
        <p:nvPicPr>
          <p:cNvPr id="5" name="Picture 4">
            <a:extLst>
              <a:ext uri="{FF2B5EF4-FFF2-40B4-BE49-F238E27FC236}">
                <a16:creationId xmlns:a16="http://schemas.microsoft.com/office/drawing/2014/main" id="{452A3831-44BC-492C-87B8-4AF411F851E9}"/>
              </a:ext>
            </a:extLst>
          </p:cNvPr>
          <p:cNvPicPr>
            <a:picLocks noChangeAspect="1"/>
          </p:cNvPicPr>
          <p:nvPr/>
        </p:nvPicPr>
        <p:blipFill>
          <a:blip r:embed="rId2"/>
          <a:stretch>
            <a:fillRect/>
          </a:stretch>
        </p:blipFill>
        <p:spPr>
          <a:xfrm>
            <a:off x="8075937" y="1511178"/>
            <a:ext cx="3611835" cy="2171823"/>
          </a:xfrm>
          <a:prstGeom prst="rect">
            <a:avLst/>
          </a:prstGeom>
        </p:spPr>
      </p:pic>
      <p:pic>
        <p:nvPicPr>
          <p:cNvPr id="7" name="Picture 6">
            <a:extLst>
              <a:ext uri="{FF2B5EF4-FFF2-40B4-BE49-F238E27FC236}">
                <a16:creationId xmlns:a16="http://schemas.microsoft.com/office/drawing/2014/main" id="{48EC8F27-B6E7-4E47-9391-DB0A1E0611B0}"/>
              </a:ext>
            </a:extLst>
          </p:cNvPr>
          <p:cNvPicPr>
            <a:picLocks noChangeAspect="1"/>
          </p:cNvPicPr>
          <p:nvPr/>
        </p:nvPicPr>
        <p:blipFill>
          <a:blip r:embed="rId3"/>
          <a:stretch>
            <a:fillRect/>
          </a:stretch>
        </p:blipFill>
        <p:spPr>
          <a:xfrm>
            <a:off x="8156889" y="3683001"/>
            <a:ext cx="3674815" cy="2404084"/>
          </a:xfrm>
          <a:prstGeom prst="rect">
            <a:avLst/>
          </a:prstGeom>
        </p:spPr>
      </p:pic>
    </p:spTree>
    <p:extLst>
      <p:ext uri="{BB962C8B-B14F-4D97-AF65-F5344CB8AC3E}">
        <p14:creationId xmlns:p14="http://schemas.microsoft.com/office/powerpoint/2010/main" val="2808790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EFFC-D669-46B8-A552-47199D0530C0}"/>
              </a:ext>
            </a:extLst>
          </p:cNvPr>
          <p:cNvSpPr>
            <a:spLocks noGrp="1"/>
          </p:cNvSpPr>
          <p:nvPr>
            <p:ph type="title"/>
          </p:nvPr>
        </p:nvSpPr>
        <p:spPr>
          <a:xfrm>
            <a:off x="838200" y="160867"/>
            <a:ext cx="10515600" cy="1040340"/>
          </a:xfrm>
        </p:spPr>
        <p:txBody>
          <a:bodyPr/>
          <a:lstStyle/>
          <a:p>
            <a:r>
              <a:rPr lang="en-US" b="1" dirty="0"/>
              <a:t>Conversion Performance</a:t>
            </a:r>
            <a:endParaRPr lang="en-US" dirty="0"/>
          </a:p>
        </p:txBody>
      </p:sp>
      <p:sp>
        <p:nvSpPr>
          <p:cNvPr id="3" name="Content Placeholder 2">
            <a:extLst>
              <a:ext uri="{FF2B5EF4-FFF2-40B4-BE49-F238E27FC236}">
                <a16:creationId xmlns:a16="http://schemas.microsoft.com/office/drawing/2014/main" id="{1F1C9683-7120-4816-AB5A-799C5CC25AE1}"/>
              </a:ext>
            </a:extLst>
          </p:cNvPr>
          <p:cNvSpPr>
            <a:spLocks noGrp="1"/>
          </p:cNvSpPr>
          <p:nvPr>
            <p:ph idx="1"/>
          </p:nvPr>
        </p:nvSpPr>
        <p:spPr>
          <a:xfrm>
            <a:off x="838199" y="1490133"/>
            <a:ext cx="6874933" cy="5207000"/>
          </a:xfrm>
        </p:spPr>
        <p:txBody>
          <a:bodyPr>
            <a:normAutofit lnSpcReduction="10000"/>
          </a:bodyPr>
          <a:lstStyle/>
          <a:p>
            <a:pPr marL="0" indent="0">
              <a:buNone/>
            </a:pPr>
            <a:r>
              <a:rPr lang="en-US" sz="1400" b="1" dirty="0"/>
              <a:t>Age Group &amp; Gender Conversion Patterns</a:t>
            </a:r>
          </a:p>
          <a:p>
            <a:r>
              <a:rPr lang="en-US" sz="1400" dirty="0"/>
              <a:t>Highest conversion rates occur in the 18–30 and 31–45 age groups.</a:t>
            </a:r>
          </a:p>
          <a:p>
            <a:r>
              <a:rPr lang="en-US" sz="1400" dirty="0"/>
              <a:t>Males convert more in younger segments (18–45).</a:t>
            </a:r>
          </a:p>
          <a:p>
            <a:r>
              <a:rPr lang="en-US" sz="1400" dirty="0"/>
              <a:t>Females outperform males in older age groups (46–65 and 65+).</a:t>
            </a:r>
          </a:p>
          <a:p>
            <a:r>
              <a:rPr lang="en-US" sz="1400" b="1" dirty="0"/>
              <a:t>Insight: </a:t>
            </a:r>
            <a:r>
              <a:rPr lang="en-US" sz="1400" dirty="0"/>
              <a:t>A single broad marketing approach is inefficient; demographic segmentation can significantly improve conversion performance.</a:t>
            </a:r>
          </a:p>
          <a:p>
            <a:pPr marL="0" indent="0">
              <a:buNone/>
            </a:pPr>
            <a:endParaRPr lang="en-US" sz="600" dirty="0"/>
          </a:p>
          <a:p>
            <a:pPr marL="0" indent="0">
              <a:buNone/>
            </a:pPr>
            <a:r>
              <a:rPr lang="en-US" sz="1400" b="1" dirty="0"/>
              <a:t>Product-Level Conversion Performance</a:t>
            </a:r>
          </a:p>
          <a:p>
            <a:r>
              <a:rPr lang="en-US" sz="1400" b="1" dirty="0"/>
              <a:t>Top Converting Products</a:t>
            </a:r>
          </a:p>
          <a:p>
            <a:pPr lvl="1"/>
            <a:r>
              <a:rPr lang="en-US" sz="1000" dirty="0"/>
              <a:t>Hockey Stick - 15.5%</a:t>
            </a:r>
          </a:p>
          <a:p>
            <a:pPr lvl="1"/>
            <a:r>
              <a:rPr lang="en-US" sz="1000" dirty="0"/>
              <a:t>Ski Boots - 14.6%</a:t>
            </a:r>
          </a:p>
          <a:p>
            <a:pPr lvl="1"/>
            <a:r>
              <a:rPr lang="en-US" sz="1000" dirty="0"/>
              <a:t>Baseball Glove - 13.7%</a:t>
            </a:r>
          </a:p>
          <a:p>
            <a:r>
              <a:rPr lang="en-US" sz="1400" b="1" dirty="0"/>
              <a:t>Low Converting Products</a:t>
            </a:r>
          </a:p>
          <a:p>
            <a:pPr lvl="1"/>
            <a:r>
              <a:rPr lang="en-US" sz="1000" dirty="0"/>
              <a:t>Swim Goggles - 5.6%</a:t>
            </a:r>
          </a:p>
          <a:p>
            <a:pPr lvl="1"/>
            <a:r>
              <a:rPr lang="en-US" sz="1000" dirty="0"/>
              <a:t>Running Shoes - 6.3%</a:t>
            </a:r>
          </a:p>
          <a:p>
            <a:pPr lvl="1"/>
            <a:r>
              <a:rPr lang="en-US" sz="1000" dirty="0"/>
              <a:t>Dumbbells - 7.0%</a:t>
            </a:r>
          </a:p>
          <a:p>
            <a:r>
              <a:rPr lang="en-US" sz="1400" b="1" dirty="0"/>
              <a:t>Visibility ≠ Conversion:</a:t>
            </a:r>
            <a:r>
              <a:rPr lang="en-US" sz="1400" dirty="0"/>
              <a:t> Our most-viewed product, Basketball (529K views), has a below-average conversion of 7.4%.</a:t>
            </a:r>
          </a:p>
          <a:p>
            <a:r>
              <a:rPr lang="en-US" sz="1400" b="1" dirty="0"/>
              <a:t>Business implication: </a:t>
            </a:r>
            <a:r>
              <a:rPr lang="en-US" sz="1400" dirty="0"/>
              <a:t>Niche products like Hockey Sticks (15.5%) and Ski Boots (14.6%) are our most efficient revenue drivers and should be prioritized in ad spend to combat the overall conversion decline.</a:t>
            </a:r>
          </a:p>
        </p:txBody>
      </p:sp>
      <p:pic>
        <p:nvPicPr>
          <p:cNvPr id="5" name="Picture 4">
            <a:extLst>
              <a:ext uri="{FF2B5EF4-FFF2-40B4-BE49-F238E27FC236}">
                <a16:creationId xmlns:a16="http://schemas.microsoft.com/office/drawing/2014/main" id="{246D489E-7310-4DA0-B631-E33386037EF3}"/>
              </a:ext>
            </a:extLst>
          </p:cNvPr>
          <p:cNvPicPr>
            <a:picLocks noChangeAspect="1"/>
          </p:cNvPicPr>
          <p:nvPr/>
        </p:nvPicPr>
        <p:blipFill>
          <a:blip r:embed="rId2"/>
          <a:stretch>
            <a:fillRect/>
          </a:stretch>
        </p:blipFill>
        <p:spPr>
          <a:xfrm>
            <a:off x="7616051" y="1707412"/>
            <a:ext cx="4575949" cy="3266753"/>
          </a:xfrm>
          <a:prstGeom prst="rect">
            <a:avLst/>
          </a:prstGeom>
        </p:spPr>
      </p:pic>
    </p:spTree>
    <p:extLst>
      <p:ext uri="{BB962C8B-B14F-4D97-AF65-F5344CB8AC3E}">
        <p14:creationId xmlns:p14="http://schemas.microsoft.com/office/powerpoint/2010/main" val="3272091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EFFC-D669-46B8-A552-47199D0530C0}"/>
              </a:ext>
            </a:extLst>
          </p:cNvPr>
          <p:cNvSpPr>
            <a:spLocks noGrp="1"/>
          </p:cNvSpPr>
          <p:nvPr>
            <p:ph type="title"/>
          </p:nvPr>
        </p:nvSpPr>
        <p:spPr>
          <a:xfrm>
            <a:off x="838200" y="160867"/>
            <a:ext cx="10515600" cy="1040340"/>
          </a:xfrm>
        </p:spPr>
        <p:txBody>
          <a:bodyPr/>
          <a:lstStyle/>
          <a:p>
            <a:r>
              <a:rPr lang="en-US" b="1" dirty="0"/>
              <a:t>Engagement</a:t>
            </a:r>
          </a:p>
        </p:txBody>
      </p:sp>
      <p:sp>
        <p:nvSpPr>
          <p:cNvPr id="3" name="Content Placeholder 2">
            <a:extLst>
              <a:ext uri="{FF2B5EF4-FFF2-40B4-BE49-F238E27FC236}">
                <a16:creationId xmlns:a16="http://schemas.microsoft.com/office/drawing/2014/main" id="{1F1C9683-7120-4816-AB5A-799C5CC25AE1}"/>
              </a:ext>
            </a:extLst>
          </p:cNvPr>
          <p:cNvSpPr>
            <a:spLocks noGrp="1"/>
          </p:cNvSpPr>
          <p:nvPr>
            <p:ph idx="1"/>
          </p:nvPr>
        </p:nvSpPr>
        <p:spPr>
          <a:xfrm>
            <a:off x="838200" y="1201207"/>
            <a:ext cx="6883400" cy="5495926"/>
          </a:xfrm>
        </p:spPr>
        <p:txBody>
          <a:bodyPr>
            <a:normAutofit/>
          </a:bodyPr>
          <a:lstStyle/>
          <a:p>
            <a:pPr marL="0" indent="0">
              <a:buNone/>
            </a:pPr>
            <a:r>
              <a:rPr lang="en-US" sz="1400" b="1" dirty="0"/>
              <a:t>The "Engagement-to-Traffic" Gap</a:t>
            </a:r>
          </a:p>
          <a:p>
            <a:r>
              <a:rPr lang="en-US" sz="1400" dirty="0"/>
              <a:t>Our digital platforms generated over 9 million views, yet the </a:t>
            </a:r>
            <a:r>
              <a:rPr lang="en-US" sz="1400" b="1" dirty="0"/>
              <a:t>conversion funnel</a:t>
            </a:r>
            <a:r>
              <a:rPr lang="en-US" sz="1400" dirty="0"/>
              <a:t> shows only 2,070 website views. This indicates that while social media is excellent at generating "likes" and "clicks," it is currently failing to drive users from the social platforms to the actual website.</a:t>
            </a:r>
          </a:p>
          <a:p>
            <a:r>
              <a:rPr lang="en-US" sz="1400" dirty="0"/>
              <a:t>There is a clear downward trend in engagement as the year progresses. Monthly views peaked in January (982K) and declined to a yearly low in December (510K) - a nearly 48% drop.</a:t>
            </a:r>
          </a:p>
          <a:p>
            <a:r>
              <a:rPr lang="en-US" sz="1400" b="1" dirty="0"/>
              <a:t>Insight: </a:t>
            </a:r>
            <a:r>
              <a:rPr lang="en-US" sz="1400" dirty="0"/>
              <a:t>Social media engagement is strong, but it isn’t translating into website traffic. Introducing clear calls to action will help convert that attention into meaningful visits and, ultimately, purchases.</a:t>
            </a:r>
          </a:p>
          <a:p>
            <a:pPr marL="0" indent="0">
              <a:buNone/>
            </a:pPr>
            <a:r>
              <a:rPr lang="en-US" sz="1400" b="1" dirty="0"/>
              <a:t>Intra-Year Seasonal Trends</a:t>
            </a:r>
          </a:p>
          <a:p>
            <a:r>
              <a:rPr lang="en-US" sz="1400" dirty="0"/>
              <a:t>Likes, clicks, and views all trend downward across the year. Total Monthly views peaked in January and steadily declined to a low in December, representing a nearly 48% drop.</a:t>
            </a:r>
          </a:p>
          <a:p>
            <a:pPr marL="0" indent="0">
              <a:buNone/>
            </a:pPr>
            <a:r>
              <a:rPr lang="en-US" sz="1400" b="1" dirty="0"/>
              <a:t>2023–2025 Performance Erosion</a:t>
            </a:r>
          </a:p>
          <a:p>
            <a:r>
              <a:rPr lang="en-US" sz="1400" dirty="0"/>
              <a:t>Total views have plummeted from 5 million in 2023 to 1 million in 2025. </a:t>
            </a:r>
          </a:p>
          <a:p>
            <a:r>
              <a:rPr lang="en-US" sz="1400" dirty="0"/>
              <a:t>The Click-Through Rate (CTR) has dropped from 25% in 2023 to 6% in 2025, suggesting that our current creative content is no longer resonating or capturing the audience's attention as effectively as it once did.</a:t>
            </a:r>
          </a:p>
          <a:p>
            <a:pPr marL="0" indent="0">
              <a:buNone/>
            </a:pPr>
            <a:r>
              <a:rPr lang="en-US" sz="1400" b="1" dirty="0"/>
              <a:t>Insight:</a:t>
            </a:r>
            <a:r>
              <a:rPr lang="en-US" sz="1400" dirty="0"/>
              <a:t> Despite continued financial investment, marketing efficiency is significantly declining over the years.</a:t>
            </a:r>
          </a:p>
        </p:txBody>
      </p:sp>
      <p:pic>
        <p:nvPicPr>
          <p:cNvPr id="5" name="Picture 4">
            <a:extLst>
              <a:ext uri="{FF2B5EF4-FFF2-40B4-BE49-F238E27FC236}">
                <a16:creationId xmlns:a16="http://schemas.microsoft.com/office/drawing/2014/main" id="{26B396EB-8330-43D0-874E-AF7A83C50D15}"/>
              </a:ext>
            </a:extLst>
          </p:cNvPr>
          <p:cNvPicPr>
            <a:picLocks noChangeAspect="1"/>
          </p:cNvPicPr>
          <p:nvPr/>
        </p:nvPicPr>
        <p:blipFill>
          <a:blip r:embed="rId2"/>
          <a:stretch>
            <a:fillRect/>
          </a:stretch>
        </p:blipFill>
        <p:spPr>
          <a:xfrm>
            <a:off x="8805355" y="1021697"/>
            <a:ext cx="2167445" cy="1435085"/>
          </a:xfrm>
          <a:prstGeom prst="rect">
            <a:avLst/>
          </a:prstGeom>
        </p:spPr>
      </p:pic>
      <p:pic>
        <p:nvPicPr>
          <p:cNvPr id="7" name="Picture 6">
            <a:extLst>
              <a:ext uri="{FF2B5EF4-FFF2-40B4-BE49-F238E27FC236}">
                <a16:creationId xmlns:a16="http://schemas.microsoft.com/office/drawing/2014/main" id="{5312A311-E57F-42A7-9EEE-877861624A39}"/>
              </a:ext>
            </a:extLst>
          </p:cNvPr>
          <p:cNvPicPr>
            <a:picLocks noChangeAspect="1"/>
          </p:cNvPicPr>
          <p:nvPr/>
        </p:nvPicPr>
        <p:blipFill>
          <a:blip r:embed="rId3"/>
          <a:stretch>
            <a:fillRect/>
          </a:stretch>
        </p:blipFill>
        <p:spPr>
          <a:xfrm>
            <a:off x="8612507" y="2456782"/>
            <a:ext cx="3210301" cy="1945886"/>
          </a:xfrm>
          <a:prstGeom prst="rect">
            <a:avLst/>
          </a:prstGeom>
        </p:spPr>
      </p:pic>
      <p:pic>
        <p:nvPicPr>
          <p:cNvPr id="11" name="Picture 10">
            <a:extLst>
              <a:ext uri="{FF2B5EF4-FFF2-40B4-BE49-F238E27FC236}">
                <a16:creationId xmlns:a16="http://schemas.microsoft.com/office/drawing/2014/main" id="{BA115990-C16D-42B4-8E73-95F632E08E72}"/>
              </a:ext>
            </a:extLst>
          </p:cNvPr>
          <p:cNvPicPr>
            <a:picLocks noChangeAspect="1"/>
          </p:cNvPicPr>
          <p:nvPr/>
        </p:nvPicPr>
        <p:blipFill>
          <a:blip r:embed="rId4"/>
          <a:stretch>
            <a:fillRect/>
          </a:stretch>
        </p:blipFill>
        <p:spPr>
          <a:xfrm>
            <a:off x="8973715" y="4330247"/>
            <a:ext cx="2487884" cy="2527753"/>
          </a:xfrm>
          <a:prstGeom prst="rect">
            <a:avLst/>
          </a:prstGeom>
        </p:spPr>
      </p:pic>
    </p:spTree>
    <p:extLst>
      <p:ext uri="{BB962C8B-B14F-4D97-AF65-F5344CB8AC3E}">
        <p14:creationId xmlns:p14="http://schemas.microsoft.com/office/powerpoint/2010/main" val="3602781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EFFC-D669-46B8-A552-47199D0530C0}"/>
              </a:ext>
            </a:extLst>
          </p:cNvPr>
          <p:cNvSpPr>
            <a:spLocks noGrp="1"/>
          </p:cNvSpPr>
          <p:nvPr>
            <p:ph type="title"/>
          </p:nvPr>
        </p:nvSpPr>
        <p:spPr>
          <a:xfrm>
            <a:off x="838200" y="143934"/>
            <a:ext cx="10515600" cy="1040340"/>
          </a:xfrm>
        </p:spPr>
        <p:txBody>
          <a:bodyPr/>
          <a:lstStyle/>
          <a:p>
            <a:r>
              <a:rPr lang="en-US" b="1" dirty="0"/>
              <a:t>Customer Sentiment &amp; Satisfaction</a:t>
            </a:r>
          </a:p>
        </p:txBody>
      </p:sp>
      <p:sp>
        <p:nvSpPr>
          <p:cNvPr id="3" name="Content Placeholder 2">
            <a:extLst>
              <a:ext uri="{FF2B5EF4-FFF2-40B4-BE49-F238E27FC236}">
                <a16:creationId xmlns:a16="http://schemas.microsoft.com/office/drawing/2014/main" id="{1F1C9683-7120-4816-AB5A-799C5CC25AE1}"/>
              </a:ext>
            </a:extLst>
          </p:cNvPr>
          <p:cNvSpPr>
            <a:spLocks noGrp="1"/>
          </p:cNvSpPr>
          <p:nvPr>
            <p:ph idx="1"/>
          </p:nvPr>
        </p:nvSpPr>
        <p:spPr>
          <a:xfrm>
            <a:off x="838200" y="1811867"/>
            <a:ext cx="6578600" cy="4885266"/>
          </a:xfrm>
        </p:spPr>
        <p:txBody>
          <a:bodyPr>
            <a:normAutofit/>
          </a:bodyPr>
          <a:lstStyle/>
          <a:p>
            <a:r>
              <a:rPr lang="en-US" sz="1400" dirty="0"/>
              <a:t>Average customer rating is 3.69, below the strong ecommerce benchmark (4.0+), indicating customer experience is meeting expectations but not strongly exceeding them.</a:t>
            </a:r>
          </a:p>
          <a:p>
            <a:r>
              <a:rPr lang="en-US" sz="1400" dirty="0"/>
              <a:t>Positive sentiment accounts for 61.63% of feedback, but the combined 22%+ negative and mixed negative share is large enough to impact purchase confidence.</a:t>
            </a:r>
          </a:p>
          <a:p>
            <a:r>
              <a:rPr lang="en-US" sz="1400" dirty="0"/>
              <a:t>A substantial portion of reviews cluster around 3-star ratings, showing many customers feel neutral rather than highly satisfied, which weakens word-of-mouth and repeat purchase momentum.</a:t>
            </a:r>
          </a:p>
          <a:p>
            <a:r>
              <a:rPr lang="en-US" sz="1400" dirty="0"/>
              <a:t>Satisfaction is consistent across age groups and genders. However, Males 65+ represent the highest satisfaction segment, while Males 18-30 and Female 31 - 45 are slightly more critical.</a:t>
            </a:r>
          </a:p>
        </p:txBody>
      </p:sp>
      <p:pic>
        <p:nvPicPr>
          <p:cNvPr id="5" name="Picture 4">
            <a:extLst>
              <a:ext uri="{FF2B5EF4-FFF2-40B4-BE49-F238E27FC236}">
                <a16:creationId xmlns:a16="http://schemas.microsoft.com/office/drawing/2014/main" id="{9B03962C-976C-4386-B816-516A535D3362}"/>
              </a:ext>
            </a:extLst>
          </p:cNvPr>
          <p:cNvPicPr>
            <a:picLocks noChangeAspect="1"/>
          </p:cNvPicPr>
          <p:nvPr/>
        </p:nvPicPr>
        <p:blipFill>
          <a:blip r:embed="rId2"/>
          <a:stretch>
            <a:fillRect/>
          </a:stretch>
        </p:blipFill>
        <p:spPr>
          <a:xfrm>
            <a:off x="8612623" y="1201207"/>
            <a:ext cx="1640510" cy="1230383"/>
          </a:xfrm>
          <a:prstGeom prst="rect">
            <a:avLst/>
          </a:prstGeom>
        </p:spPr>
      </p:pic>
      <p:pic>
        <p:nvPicPr>
          <p:cNvPr id="7" name="Picture 6">
            <a:extLst>
              <a:ext uri="{FF2B5EF4-FFF2-40B4-BE49-F238E27FC236}">
                <a16:creationId xmlns:a16="http://schemas.microsoft.com/office/drawing/2014/main" id="{4F09A89E-C80F-4707-A336-A901B65468D4}"/>
              </a:ext>
            </a:extLst>
          </p:cNvPr>
          <p:cNvPicPr>
            <a:picLocks noChangeAspect="1"/>
          </p:cNvPicPr>
          <p:nvPr/>
        </p:nvPicPr>
        <p:blipFill>
          <a:blip r:embed="rId3"/>
          <a:stretch>
            <a:fillRect/>
          </a:stretch>
        </p:blipFill>
        <p:spPr>
          <a:xfrm>
            <a:off x="7867857" y="2979604"/>
            <a:ext cx="4601217" cy="1914792"/>
          </a:xfrm>
          <a:prstGeom prst="rect">
            <a:avLst/>
          </a:prstGeom>
        </p:spPr>
      </p:pic>
    </p:spTree>
    <p:extLst>
      <p:ext uri="{BB962C8B-B14F-4D97-AF65-F5344CB8AC3E}">
        <p14:creationId xmlns:p14="http://schemas.microsoft.com/office/powerpoint/2010/main" val="1926164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967C-9760-4926-8A88-4AD9CAC86445}"/>
              </a:ext>
            </a:extLst>
          </p:cNvPr>
          <p:cNvSpPr>
            <a:spLocks noGrp="1"/>
          </p:cNvSpPr>
          <p:nvPr>
            <p:ph type="title"/>
          </p:nvPr>
        </p:nvSpPr>
        <p:spPr/>
        <p:txBody>
          <a:bodyPr/>
          <a:lstStyle/>
          <a:p>
            <a:r>
              <a:rPr lang="en-US" b="1" dirty="0"/>
              <a:t>Recommendations</a:t>
            </a:r>
          </a:p>
        </p:txBody>
      </p:sp>
      <p:sp>
        <p:nvSpPr>
          <p:cNvPr id="3" name="Content Placeholder 2">
            <a:extLst>
              <a:ext uri="{FF2B5EF4-FFF2-40B4-BE49-F238E27FC236}">
                <a16:creationId xmlns:a16="http://schemas.microsoft.com/office/drawing/2014/main" id="{B1F99A1E-5B32-4F9E-A7EF-03E9929D591F}"/>
              </a:ext>
            </a:extLst>
          </p:cNvPr>
          <p:cNvSpPr>
            <a:spLocks noGrp="1"/>
          </p:cNvSpPr>
          <p:nvPr>
            <p:ph idx="1"/>
          </p:nvPr>
        </p:nvSpPr>
        <p:spPr/>
        <p:txBody>
          <a:bodyPr>
            <a:normAutofit/>
          </a:bodyPr>
          <a:lstStyle/>
          <a:p>
            <a:r>
              <a:rPr lang="en-US" sz="1400" b="1" dirty="0"/>
              <a:t>Optimize Checkout Experience </a:t>
            </a:r>
            <a:r>
              <a:rPr lang="en-US" sz="1400" dirty="0"/>
              <a:t>(Immediate impact): Reduce friction steps, improve payment options, strengthen trust signals, clarify delivery and returns.</a:t>
            </a:r>
          </a:p>
          <a:p>
            <a:r>
              <a:rPr lang="en-US" sz="1400" b="1" dirty="0"/>
              <a:t>Bridge the Traffic Gap:</a:t>
            </a:r>
            <a:r>
              <a:rPr lang="en-US" sz="1400" dirty="0"/>
              <a:t> Implement aggressive "Call-to-Action" (CTA) overlays on high-performing social content to convert "Likes" into "Website Visits”.</a:t>
            </a:r>
          </a:p>
          <a:p>
            <a:r>
              <a:rPr lang="en-US" sz="1400" b="1" dirty="0"/>
              <a:t>Reallocate Budget:</a:t>
            </a:r>
            <a:r>
              <a:rPr lang="en-US" sz="1400" dirty="0"/>
              <a:t> Shift spend away from high-reach/low-conversion items (e.g., Basketball) toward high-intent products like Ski Boots and Hockey Sticks to maximize ROI.</a:t>
            </a:r>
          </a:p>
          <a:p>
            <a:r>
              <a:rPr lang="en-US" sz="1400" b="1" dirty="0"/>
              <a:t>Leverage Social Proof:</a:t>
            </a:r>
            <a:r>
              <a:rPr lang="en-US" sz="1400" dirty="0"/>
              <a:t> Combat the falling CTR by integrating our high volume of 5-star customer reviews into our ad creatives to rebuild trust and interest.</a:t>
            </a:r>
          </a:p>
          <a:p>
            <a:r>
              <a:rPr lang="en-US" sz="1400" b="1" dirty="0"/>
              <a:t>Address Seasonal Attrition:</a:t>
            </a:r>
            <a:r>
              <a:rPr lang="en-US" sz="1400" dirty="0"/>
              <a:t> Investigate the 48% decline in engagement from January to December and develop a Q4 "Retention and Re-engagement" campaign.</a:t>
            </a:r>
          </a:p>
          <a:p>
            <a:r>
              <a:rPr lang="en-US" sz="1400" b="1" dirty="0"/>
              <a:t>Improve Traffic Quality: </a:t>
            </a:r>
            <a:r>
              <a:rPr lang="en-US" sz="1400" dirty="0"/>
              <a:t>Tighten audience targeting on social media and reduce low-intent reach campaigns.</a:t>
            </a:r>
          </a:p>
          <a:p>
            <a:r>
              <a:rPr lang="en-US" sz="1400" dirty="0"/>
              <a:t>Segment Campaigns by Demographics and align marketing with seasonal demand.</a:t>
            </a:r>
          </a:p>
          <a:p>
            <a:r>
              <a:rPr lang="en-US" sz="1400" dirty="0"/>
              <a:t>Elevate Customer Experience to Push Rating &gt; 4.0. For long-term conversion lift.</a:t>
            </a:r>
          </a:p>
          <a:p>
            <a:r>
              <a:rPr lang="en-US" sz="1400" dirty="0"/>
              <a:t>Prioritize high-conversion, high-margin SKUs.</a:t>
            </a:r>
          </a:p>
          <a:p>
            <a:r>
              <a:rPr lang="en-US" sz="1400" dirty="0"/>
              <a:t>Come up with new and creative marketing campaigns to reignite engagement.</a:t>
            </a:r>
          </a:p>
        </p:txBody>
      </p:sp>
    </p:spTree>
    <p:extLst>
      <p:ext uri="{BB962C8B-B14F-4D97-AF65-F5344CB8AC3E}">
        <p14:creationId xmlns:p14="http://schemas.microsoft.com/office/powerpoint/2010/main" val="47717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B2885-43DD-44B5-AA95-543184D82C3E}"/>
              </a:ext>
            </a:extLst>
          </p:cNvPr>
          <p:cNvSpPr>
            <a:spLocks noGrp="1"/>
          </p:cNvSpPr>
          <p:nvPr>
            <p:ph type="title"/>
          </p:nvPr>
        </p:nvSpPr>
        <p:spPr/>
        <p:txBody>
          <a:bodyPr/>
          <a:lstStyle/>
          <a:p>
            <a:r>
              <a:rPr lang="en-US" b="1" dirty="0"/>
              <a:t>Project Links</a:t>
            </a:r>
          </a:p>
        </p:txBody>
      </p:sp>
      <p:pic>
        <p:nvPicPr>
          <p:cNvPr id="5" name="Picture 4">
            <a:extLst>
              <a:ext uri="{FF2B5EF4-FFF2-40B4-BE49-F238E27FC236}">
                <a16:creationId xmlns:a16="http://schemas.microsoft.com/office/drawing/2014/main" id="{AEE90DD7-62FF-469A-B7DB-FC999CF73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9600" y="2030351"/>
            <a:ext cx="1193651" cy="1193651"/>
          </a:xfrm>
          <a:prstGeom prst="rect">
            <a:avLst/>
          </a:prstGeom>
        </p:spPr>
      </p:pic>
      <p:pic>
        <p:nvPicPr>
          <p:cNvPr id="11" name="Picture 10">
            <a:extLst>
              <a:ext uri="{FF2B5EF4-FFF2-40B4-BE49-F238E27FC236}">
                <a16:creationId xmlns:a16="http://schemas.microsoft.com/office/drawing/2014/main" id="{6D1ECF51-4E87-47AB-95D4-3E5EE83AD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175" y="2030351"/>
            <a:ext cx="1041226" cy="1041226"/>
          </a:xfrm>
          <a:prstGeom prst="rect">
            <a:avLst/>
          </a:prstGeom>
        </p:spPr>
      </p:pic>
      <p:pic>
        <p:nvPicPr>
          <p:cNvPr id="13" name="Picture 12">
            <a:extLst>
              <a:ext uri="{FF2B5EF4-FFF2-40B4-BE49-F238E27FC236}">
                <a16:creationId xmlns:a16="http://schemas.microsoft.com/office/drawing/2014/main" id="{310F43AA-9124-4BCC-9786-9A2080C63E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5466" y="2106551"/>
            <a:ext cx="858510" cy="858510"/>
          </a:xfrm>
          <a:prstGeom prst="rect">
            <a:avLst/>
          </a:prstGeom>
        </p:spPr>
      </p:pic>
      <p:sp>
        <p:nvSpPr>
          <p:cNvPr id="14" name="TextBox 13">
            <a:extLst>
              <a:ext uri="{FF2B5EF4-FFF2-40B4-BE49-F238E27FC236}">
                <a16:creationId xmlns:a16="http://schemas.microsoft.com/office/drawing/2014/main" id="{995DC79A-4BA5-482D-AC54-4F004CFCC85E}"/>
              </a:ext>
            </a:extLst>
          </p:cNvPr>
          <p:cNvSpPr txBox="1"/>
          <p:nvPr/>
        </p:nvSpPr>
        <p:spPr>
          <a:xfrm>
            <a:off x="728133" y="3380922"/>
            <a:ext cx="2709333" cy="369332"/>
          </a:xfrm>
          <a:prstGeom prst="rect">
            <a:avLst/>
          </a:prstGeom>
          <a:noFill/>
        </p:spPr>
        <p:txBody>
          <a:bodyPr wrap="square" rtlCol="0">
            <a:spAutoFit/>
          </a:bodyPr>
          <a:lstStyle/>
          <a:p>
            <a:r>
              <a:rPr lang="en-US" b="1" dirty="0"/>
              <a:t>Power BI Dashboard</a:t>
            </a:r>
          </a:p>
        </p:txBody>
      </p:sp>
      <p:sp>
        <p:nvSpPr>
          <p:cNvPr id="15" name="TextBox 14">
            <a:extLst>
              <a:ext uri="{FF2B5EF4-FFF2-40B4-BE49-F238E27FC236}">
                <a16:creationId xmlns:a16="http://schemas.microsoft.com/office/drawing/2014/main" id="{25F71A56-56B6-4FF2-ABC2-9875BA67F755}"/>
              </a:ext>
            </a:extLst>
          </p:cNvPr>
          <p:cNvSpPr txBox="1"/>
          <p:nvPr/>
        </p:nvSpPr>
        <p:spPr>
          <a:xfrm>
            <a:off x="3763361" y="3429000"/>
            <a:ext cx="2709333" cy="369332"/>
          </a:xfrm>
          <a:prstGeom prst="rect">
            <a:avLst/>
          </a:prstGeom>
          <a:noFill/>
        </p:spPr>
        <p:txBody>
          <a:bodyPr wrap="square" rtlCol="0">
            <a:spAutoFit/>
          </a:bodyPr>
          <a:lstStyle/>
          <a:p>
            <a:r>
              <a:rPr lang="en-US" b="1" dirty="0"/>
              <a:t>Portfolio Website</a:t>
            </a:r>
            <a:endParaRPr lang="en-US" dirty="0"/>
          </a:p>
        </p:txBody>
      </p:sp>
      <p:sp>
        <p:nvSpPr>
          <p:cNvPr id="16" name="TextBox 15">
            <a:extLst>
              <a:ext uri="{FF2B5EF4-FFF2-40B4-BE49-F238E27FC236}">
                <a16:creationId xmlns:a16="http://schemas.microsoft.com/office/drawing/2014/main" id="{7AE50E6C-3C3A-4A07-B412-A0D3CEFFBF1C}"/>
              </a:ext>
            </a:extLst>
          </p:cNvPr>
          <p:cNvSpPr txBox="1"/>
          <p:nvPr/>
        </p:nvSpPr>
        <p:spPr>
          <a:xfrm>
            <a:off x="6701520" y="3449333"/>
            <a:ext cx="2649953" cy="369332"/>
          </a:xfrm>
          <a:prstGeom prst="rect">
            <a:avLst/>
          </a:prstGeom>
          <a:noFill/>
        </p:spPr>
        <p:txBody>
          <a:bodyPr wrap="square" rtlCol="0">
            <a:spAutoFit/>
          </a:bodyPr>
          <a:lstStyle/>
          <a:p>
            <a:r>
              <a:rPr lang="en-US" sz="1800" b="1" kern="1200" dirty="0">
                <a:solidFill>
                  <a:srgbClr val="000000"/>
                </a:solidFill>
                <a:effectLst/>
                <a:latin typeface="Calibri" panose="020F0502020204030204" pitchFamily="34" charset="0"/>
                <a:ea typeface="+mn-ea"/>
                <a:cs typeface="+mn-cs"/>
              </a:rPr>
              <a:t>GitHub Repository</a:t>
            </a:r>
            <a:endParaRPr lang="en-US" dirty="0"/>
          </a:p>
        </p:txBody>
      </p:sp>
    </p:spTree>
    <p:extLst>
      <p:ext uri="{BB962C8B-B14F-4D97-AF65-F5344CB8AC3E}">
        <p14:creationId xmlns:p14="http://schemas.microsoft.com/office/powerpoint/2010/main" val="3350871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391</TotalTime>
  <Words>1094</Words>
  <Application>Microsoft Office PowerPoint</Application>
  <PresentationFormat>Widescreen</PresentationFormat>
  <Paragraphs>71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Marketing Analytics Report ProGear Sports</vt:lpstr>
      <vt:lpstr>Executive Summary</vt:lpstr>
      <vt:lpstr>Conversion Performance</vt:lpstr>
      <vt:lpstr>Conversion Performance</vt:lpstr>
      <vt:lpstr>Engagement</vt:lpstr>
      <vt:lpstr>Customer Sentiment &amp; Satisfaction</vt:lpstr>
      <vt:lpstr>Recommendations</vt:lpstr>
      <vt:lpstr>Project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D M</dc:creator>
  <cp:lastModifiedBy>N D M</cp:lastModifiedBy>
  <cp:revision>28</cp:revision>
  <dcterms:created xsi:type="dcterms:W3CDTF">2026-02-27T12:44:34Z</dcterms:created>
  <dcterms:modified xsi:type="dcterms:W3CDTF">2026-02-28T09:25:07Z</dcterms:modified>
</cp:coreProperties>
</file>